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- 05: Interruptible Real-Time Agents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Baithak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 SRM Institute of Science and Technology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Hiya Lodha, hl1845@srmist.edu.in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 Vatsal Srivastava, vs3801@srmist.edu.in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 Rupshika Deb, rd2132@srmist.edu.in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Github link - https://github.com/hiyalodha/PRISM_GENAI_HACKATHON_Y2026</a:t>
            </a:r>
            <a:endParaRPr/>
          </a:p>
          <a:p>
            <a:pPr indent="-762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4142B"/>
                </a:solidFill>
              </a:rPr>
              <a:t>Reflex</a:t>
            </a:r>
            <a:r>
              <a:rPr sz="1800" b="0">
                <a:solidFill>
                  <a:srgbClr val="14142B"/>
                </a:solidFill>
              </a:rPr>
              <a:t>: an interruptible, full-duplex voice agent that listens, thinks, calls tools and speaks at the same time</a:t>
            </a:r>
            <a:endParaRPr/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4142B"/>
                </a:solidFill>
              </a:rPr>
              <a:t>The problem:</a:t>
            </a:r>
            <a:r>
              <a:rPr sz="1800" b="0">
                <a:solidFill>
                  <a:srgbClr val="14142B"/>
                </a:solidFill>
              </a:rPr>
              <a:t> assistants work half-duplex (listen, think, speak). Real users interrupt, change their mind and correct themselves mid-sentence while tools are still running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4142B"/>
                </a:solidFill>
              </a:rPr>
              <a:t>Why it is hard:</a:t>
            </a:r>
            <a:r>
              <a:rPr sz="1800" b="0">
                <a:solidFill>
                  <a:srgbClr val="14142B"/>
                </a:solidFill>
              </a:rPr>
              <a:t> it is a concurrency and state-consistency problem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63637E"/>
                </a:solidFill>
              </a:rPr>
              <a:t>Cancel stale tool calls within milliseconds of a correction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63637E"/>
                </a:solidFill>
              </a:rPr>
              <a:t>Never double-book or repeat a state-changing action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63637E"/>
                </a:solidFill>
              </a:rPr>
              <a:t>Keep session state right across corrections, audio and camera input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4142B"/>
                </a:solidFill>
              </a:rPr>
              <a:t>Scored on</a:t>
            </a:r>
            <a:r>
              <a:rPr sz="1800" b="0">
                <a:solidFill>
                  <a:srgbClr val="14142B"/>
                </a:solidFill>
              </a:rPr>
              <a:t> task completion 40%, interruption recovery 35%, latency 15%, safety and protocol 10%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142B"/>
                </a:solidFill>
              </a:rPr>
              <a:t>Turn-based assistants</a:t>
            </a:r>
            <a:r>
              <a:rPr sz="1700" b="0">
                <a:solidFill>
                  <a:srgbClr val="14142B"/>
                </a:solidFill>
              </a:rPr>
              <a:t> finish their current plan before listening again, so a correction arrives after the wrong work is already done</a:t>
            </a:r>
            <a:endParaRPr/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4142B"/>
                </a:solidFill>
              </a:rPr>
              <a:t>Barge-in in voice pipelines</a:t>
            </a:r>
            <a:r>
              <a:rPr sz="1700" b="0">
                <a:solidFill>
                  <a:srgbClr val="14142B"/>
                </a:solidFill>
              </a:rPr>
              <a:t> usually stops audio playback, but in-flight tool calls keep running and state is not updated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4142B"/>
                </a:solidFill>
              </a:rPr>
              <a:t>Typical LLM agent loops</a:t>
            </a:r>
            <a:r>
              <a:rPr sz="1700" b="0">
                <a:solidFill>
                  <a:srgbClr val="14142B"/>
                </a:solidFill>
              </a:rPr>
              <a:t> call tools sequentially and blocking; a correction mid-task can trigger a second booking instead of replacing the first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4142B"/>
                </a:solidFill>
              </a:rPr>
              <a:t>Small and local models</a:t>
            </a:r>
            <a:r>
              <a:rPr sz="1700" b="0">
                <a:solidFill>
                  <a:srgbClr val="14142B"/>
                </a:solidFill>
              </a:rPr>
              <a:t> hallucinate arguments; nothing stops them from acting on a value the user never said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4142B"/>
                </a:solidFill>
              </a:rPr>
              <a:t>Cloud-only stacks</a:t>
            </a:r>
            <a:r>
              <a:rPr sz="1700" b="0">
                <a:solidFill>
                  <a:srgbClr val="14142B"/>
                </a:solidFill>
              </a:rPr>
              <a:t> add network latency to every turn and send voice and camera data off-device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4142B"/>
                </a:solidFill>
              </a:rPr>
              <a:t>Gap:</a:t>
            </a:r>
            <a:r>
              <a:rPr sz="1700" b="0">
                <a:solidFill>
                  <a:srgbClr val="14142B"/>
                </a:solidFill>
              </a:rPr>
              <a:t> a coordination layer that treats cancellation, idempotency and grounding as first-class, independent of how smart or fast the model 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Rounded Rectangle 113"/>
          <p:cNvSpPr/>
          <p:nvPr/>
        </p:nvSpPr>
        <p:spPr>
          <a:xfrm>
            <a:off x="320040" y="1874519"/>
            <a:ext cx="1874519" cy="3566160"/>
          </a:xfrm>
          <a:prstGeom prst="roundRect">
            <a:avLst>
              <a:gd name="adj" fmla="val 8000"/>
            </a:avLst>
          </a:prstGeom>
          <a:solidFill>
            <a:srgbClr val="F4F1FD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4142B"/>
                </a:solidFill>
              </a:rPr>
              <a:t>Events in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14142B"/>
                </a:solidFill>
              </a:rPr>
              <a:t>Text chunks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14142B"/>
                </a:solidFill>
              </a:rPr>
              <a:t>Audio (WAV)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14142B"/>
                </a:solidFill>
              </a:rPr>
              <a:t>Camera frames (PNG)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14142B"/>
                </a:solidFill>
              </a:rPr>
              <a:t>Interrupts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14142B"/>
                </a:solidFill>
              </a:rPr>
              <a:t>Tool results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14142B"/>
                </a:solidFill>
              </a:rPr>
              <a:t>Tool manifest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514600" y="3154680"/>
            <a:ext cx="1234440" cy="1005840"/>
          </a:xfrm>
          <a:prstGeom prst="roundRect">
            <a:avLst>
              <a:gd name="adj" fmla="val 8000"/>
            </a:avLst>
          </a:prstGeom>
          <a:solidFill>
            <a:srgbClr val="14142B"/>
          </a:solidFill>
          <a:ln w="15875">
            <a:solidFill>
              <a:srgbClr val="141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Event router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non-blocking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114800" y="1600200"/>
            <a:ext cx="3154680" cy="141732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Fast path  (rules, ~1 ms)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</a:rPr>
              <a:t>Acknowledge every turn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</a:rPr>
              <a:t>Detect corrections, cancel calls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</a:rPr>
              <a:t>Capped progress updates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</a:rPr>
              <a:t>Block false "done" claims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114800" y="3200400"/>
            <a:ext cx="3154680" cy="1417320"/>
          </a:xfrm>
          <a:prstGeom prst="roundRect">
            <a:avLst>
              <a:gd name="adj" fmla="val 8000"/>
            </a:avLst>
          </a:prstGeom>
          <a:solidFill>
            <a:srgbClr val="3B64DB"/>
          </a:solidFill>
          <a:ln w="15875">
            <a:solidFill>
              <a:srgbClr val="3B6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Slow path  (Qwen3-VL-8B)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</a:rPr>
              <a:t>Intent and slot updates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</a:rPr>
              <a:t>Call tool / clarify / respond / wait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</a:rPr>
              <a:t>Pre-empted by new speech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</a:rPr>
              <a:t>Carries forward unplanned turns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114800" y="4800600"/>
            <a:ext cx="3154680" cy="1188720"/>
          </a:xfrm>
          <a:prstGeom prst="roundRect">
            <a:avLst>
              <a:gd name="adj" fmla="val 8000"/>
            </a:avLst>
          </a:prstGeom>
          <a:solidFill>
            <a:srgbClr val="2F9E8F"/>
          </a:solidFill>
          <a:ln w="15875">
            <a:solidFill>
              <a:srgbClr val="2F9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Perception  (background)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</a:rPr>
              <a:t>faster-whisper speech to text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</a:rPr>
              <a:t>Qwen3-VL reads camera frames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</a:rPr>
              <a:t>Low confidence triggers a question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7635240" y="1600200"/>
            <a:ext cx="2514600" cy="4389120"/>
          </a:xfrm>
          <a:prstGeom prst="roundRect">
            <a:avLst>
              <a:gd name="adj" fmla="val 8000"/>
            </a:avLst>
          </a:prstGeom>
          <a:solidFill>
            <a:srgbClr val="D9D3F0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4142B"/>
                </a:solidFill>
              </a:rPr>
              <a:t>Coordination layer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14142B"/>
                </a:solidFill>
              </a:rPr>
              <a:t>Slot store: localized corrections, derived-slot cascade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14142B"/>
                </a:solidFill>
              </a:rPr>
              <a:t/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14142B"/>
                </a:solidFill>
              </a:rPr>
              <a:t>Call manager: call ids, timeouts, drop stale results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14142B"/>
                </a:solidFill>
              </a:rPr>
              <a:t/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14142B"/>
                </a:solidFill>
              </a:rPr>
              <a:t>Duplicate guard: idempotency keys, bounded retries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14142B"/>
                </a:solidFill>
              </a:rPr>
              <a:t/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14142B"/>
                </a:solidFill>
              </a:rPr>
              <a:t>Grounding guard: act only on values the user, a tool or the camera provided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0469880" y="2971800"/>
            <a:ext cx="1463040" cy="1371600"/>
          </a:xfrm>
          <a:prstGeom prst="roundRect">
            <a:avLst>
              <a:gd name="adj" fmla="val 8000"/>
            </a:avLst>
          </a:prstGeom>
          <a:solidFill>
            <a:srgbClr val="14142B"/>
          </a:solidFill>
          <a:ln w="15875">
            <a:solidFill>
              <a:srgbClr val="141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Actions out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</a:rPr>
              <a:t>validated JSON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</a:rPr>
              <a:t>speak, tool call, cancel, clarify, answer + snapshot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2194560" y="3657600"/>
            <a:ext cx="320040" cy="0"/>
          </a:xfrm>
          <a:prstGeom prst="line">
            <a:avLst/>
          </a:prstGeom>
          <a:ln w="22225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3749039" y="2331720"/>
            <a:ext cx="365761" cy="1097280"/>
          </a:xfrm>
          <a:prstGeom prst="line">
            <a:avLst/>
          </a:prstGeom>
          <a:ln w="22225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3749039" y="3657600"/>
            <a:ext cx="365761" cy="246887"/>
          </a:xfrm>
          <a:prstGeom prst="line">
            <a:avLst/>
          </a:prstGeom>
          <a:ln w="22225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749039" y="3886200"/>
            <a:ext cx="365761" cy="1508760"/>
          </a:xfrm>
          <a:prstGeom prst="line">
            <a:avLst/>
          </a:prstGeom>
          <a:ln w="22225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7269480" y="2331720"/>
            <a:ext cx="365760" cy="320040"/>
          </a:xfrm>
          <a:prstGeom prst="line">
            <a:avLst/>
          </a:prstGeom>
          <a:ln w="22225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7269480" y="3904487"/>
            <a:ext cx="365760" cy="0"/>
          </a:xfrm>
          <a:prstGeom prst="line">
            <a:avLst/>
          </a:prstGeom>
          <a:ln w="22225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5687568" y="4617720"/>
            <a:ext cx="0" cy="182880"/>
          </a:xfrm>
          <a:prstGeom prst="line">
            <a:avLst/>
          </a:prstGeom>
          <a:ln w="22225">
            <a:solidFill>
              <a:srgbClr val="2F9E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0149840" y="3657600"/>
            <a:ext cx="320040" cy="0"/>
          </a:xfrm>
          <a:prstGeom prst="line">
            <a:avLst/>
          </a:prstGeom>
          <a:ln w="22225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320040" y="605332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63637E"/>
                </a:solidFill>
              </a:rPr>
              <a:t>Runs fully on-device on an Apple M5 laptop (16 GB). Only src/prism/adapter.py knows the evaluation kit's wire format.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4142B"/>
                </a:solidFill>
              </a:rPr>
              <a:t>Live trace, scenario 12, with Qwen3-VL-8B planning in real time: the user changes the destination while a search is running</a:t>
            </a:r>
          </a:p>
        </p:txBody>
      </p:sp>
      <p:graphicFrame>
        <p:nvGraphicFramePr>
          <p:cNvPr id="121" name="Table 120"/>
          <p:cNvGraphicFramePr>
            <a:graphicFrameLocks noGrp="1"/>
          </p:cNvGraphicFramePr>
          <p:nvPr/>
        </p:nvGraphicFramePr>
        <p:xfrm>
          <a:off x="548640" y="1920240"/>
          <a:ext cx="7406640" cy="33649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1560"/>
                <a:gridCol w="3063240"/>
                <a:gridCol w="329184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Time</a:t>
                      </a:r>
                    </a:p>
                  </a:txBody>
                  <a:tcPr marL="73152" marR="73152" marT="27432" marB="27432" anchor="ctr"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User</a:t>
                      </a:r>
                    </a:p>
                  </a:txBody>
                  <a:tcPr marL="73152" marR="73152" marT="27432" marB="27432" anchor="ctr"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Reflex</a:t>
                      </a:r>
                    </a:p>
                  </a:txBody>
                  <a:tcPr marL="73152" marR="73152" marT="27432" marB="27432" anchor="ctr">
                    <a:solidFill>
                      <a:srgbClr val="6D28D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0.50 s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"Find flights from London to Paris on Monday."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Acknowledges instantly ("Let me check that.")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8.30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Starts flight_search: London to Paris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16.0012 s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Interrupts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16.0019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Cancels the Paris search (0.8 ms later)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16.10 s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"Actually, make it Rome instead."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"Got it, Rome instead." Updates only the destination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22.63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Starts flight_search: London to Rome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26.30 s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Stale Paris result arrives and is ignored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</a:tr>
            </a:tbl>
          </a:graphicData>
        </a:graphic>
      </p:graphicFrame>
      <p:sp>
        <p:nvSpPr>
          <p:cNvPr id="122" name="TextBox 121"/>
          <p:cNvSpPr txBox="1"/>
          <p:nvPr/>
        </p:nvSpPr>
        <p:spPr>
          <a:xfrm>
            <a:off x="8229600" y="192024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6D28D9"/>
                </a:solidFill>
              </a:rPr>
              <a:t>Demo video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142B"/>
                </a:solidFill>
              </a:rPr>
              <a:t>demo/Reflex_demo.mp4 in the GitHub repo (3 min 30 s)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142B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6D28D9"/>
                </a:solidFill>
              </a:rPr>
              <a:t>Reproduce it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142B"/>
                </a:solidFill>
              </a:rPr>
              <a:t>make install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142B"/>
                </a:solidFill>
              </a:rPr>
              <a:t>make install-mlx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142B"/>
                </a:solidFill>
              </a:rPr>
              <a:t>make serve-model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142B"/>
                </a:solidFill>
              </a:rPr>
              <a:t>make replay-local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142B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3637E"/>
                </a:solidFill>
              </a:rPr>
              <a:t>Every run writes a JSONL trace of all events and actions, scored automatically.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graphicFrame>
        <p:nvGraphicFramePr>
          <p:cNvPr id="126" name="Table 125"/>
          <p:cNvGraphicFramePr>
            <a:graphicFrameLocks noGrp="1"/>
          </p:cNvGraphicFramePr>
          <p:nvPr/>
        </p:nvGraphicFramePr>
        <p:xfrm>
          <a:off x="548640" y="1554480"/>
          <a:ext cx="11064240" cy="39502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0"/>
                <a:gridCol w="4023360"/>
                <a:gridCol w="5212080"/>
              </a:tblGrid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73152" marR="73152" marT="27432" marB="27432" anchor="ctr"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What we used</a:t>
                      </a:r>
                    </a:p>
                  </a:txBody>
                  <a:tcPr marL="73152" marR="73152" marT="27432" marB="27432" anchor="ctr"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 marL="73152" marR="73152" marT="27432" marB="27432" anchor="ctr">
                    <a:solidFill>
                      <a:srgbClr val="6D28D9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Agent core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Python 3.10 to 3.12, asyncio, pydantic v2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Concurrent perception, planning, tools and speech on one event loop; every action schema-validated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Planner and vision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Qwen3-VL-8B-Instruct, 4-bit, served with mlx-vlm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One model for text and images fits in 16 GB; real vision; runs on the Apple GPU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Speech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faster-whisper tiny.en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About 0.1 s per utterance on-device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Model interface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Any OpenAI-compatible local server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Swap in Ollama, llama.cpp or vLLM (for 32B on a GPU box) without code changes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Evaluation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Virtual-clock replay harness, mock tools with fault injection, scorer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Deterministic, reproducible runs; traces for every experiment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Quality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82 tests, GitHub Actions CI on 3.10, 3.11, 3.12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Every fix has a regression test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Hardware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Apple M5 MacBook, 16 GB unified memory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2B"/>
                          </a:solidFill>
                        </a:rPr>
                        <a:t>No cloud, no API keys, voice and camera stay on-device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</a:tr>
            </a:tbl>
          </a:graphicData>
        </a:graphic>
      </p:graphicFrame>
      <p:sp>
        <p:nvSpPr>
          <p:cNvPr id="127" name="TextBox 12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63637E"/>
                </a:solidFill>
              </a:rPr>
              <a:t>Development was assisted by Claude Code (AI pair programming); see the AI disclosure in the repository.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4142B"/>
                </a:solidFill>
              </a:rPr>
              <a:t>In-car and hands-free:</a:t>
            </a:r>
            <a:r>
              <a:rPr sz="1800" b="0">
                <a:solidFill>
                  <a:srgbClr val="14142B"/>
                </a:solidFill>
              </a:rPr>
              <a:t> the driver changes the destination mid-route; the stale route calculation is cancelled in about 1 ms instead of finishing and being read out</a:t>
            </a:r>
            <a:endParaRPr/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4142B"/>
                </a:solidFill>
              </a:rPr>
              <a:t>Customer support bookings:</a:t>
            </a:r>
            <a:r>
              <a:rPr sz="1800" b="0">
                <a:solidFill>
                  <a:srgbClr val="14142B"/>
                </a:solidFill>
              </a:rPr>
              <a:t> "actually the name is Jon, not John" replaces the in-flight booking; exactly one booking is ever made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4142B"/>
                </a:solidFill>
              </a:rPr>
              <a:t>Field and home troubleshooting:</a:t>
            </a:r>
            <a:r>
              <a:rPr sz="1800" b="0">
                <a:solidFill>
                  <a:srgbClr val="14142B"/>
                </a:solidFill>
              </a:rPr>
              <a:t> point the camera at a device; Reflex reads the model number and looks up the manual, and asks when the image is blurry instead of guessing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4142B"/>
                </a:solidFill>
              </a:rPr>
              <a:t>Accessibility:</a:t>
            </a:r>
            <a:r>
              <a:rPr sz="1800" b="0">
                <a:solidFill>
                  <a:srgbClr val="14142B"/>
                </a:solidFill>
              </a:rPr>
              <a:t> hesitations and self-repairs are handled as corrections, not as new requests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4142B"/>
                </a:solidFill>
              </a:rPr>
              <a:t>Privacy by default:</a:t>
            </a:r>
            <a:r>
              <a:rPr sz="1800" b="0">
                <a:solidFill>
                  <a:srgbClr val="14142B"/>
                </a:solidFill>
              </a:rPr>
              <a:t> everything runs on the device, so voice and camera data never leave 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</a:endParaRPr>
          </a:p>
        </p:txBody>
      </p:sp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457200" y="1463040"/>
          <a:ext cx="6675120" cy="26883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31920"/>
                <a:gridCol w="1005840"/>
                <a:gridCol w="173736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Setup (Apple M5, 16 GB)</a:t>
                      </a:r>
                    </a:p>
                  </a:txBody>
                  <a:tcPr marL="73152" marR="73152" marT="27432" marB="27432" anchor="ctr"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Score*</a:t>
                      </a:r>
                    </a:p>
                  </a:txBody>
                  <a:tcPr marL="73152" marR="73152" marT="27432" marB="27432" anchor="ctr"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Unrequested bookings</a:t>
                      </a:r>
                    </a:p>
                  </a:txBody>
                  <a:tcPr marL="73152" marR="73152" marT="27432" marB="27432" anchor="ctr">
                    <a:solidFill>
                      <a:srgbClr val="6D28D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2B"/>
                          </a:solidFill>
                        </a:rPr>
                        <a:t>Rule-based stub (CI baseline)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42B"/>
                          </a:solidFill>
                        </a:rPr>
                        <a:t>100.0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42B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2B"/>
                          </a:solidFill>
                        </a:rPr>
                        <a:t>Qwen3-8B baseline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42B"/>
                          </a:solidFill>
                        </a:rPr>
                        <a:t>81.0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42B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2B"/>
                          </a:solidFill>
                        </a:rPr>
                        <a:t>+ carry forward unplanned speech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42B"/>
                          </a:solidFill>
                        </a:rPr>
                        <a:t>89.6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42B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2B"/>
                          </a:solidFill>
                        </a:rPr>
                        <a:t>Qwen3-VL-8B, one model for text and vision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42B"/>
                          </a:solidFill>
                        </a:rPr>
                        <a:t>90.5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42B"/>
                          </a:solidFill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2B"/>
                          </a:solidFill>
                        </a:rPr>
                        <a:t>+ grounding guard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42B"/>
                          </a:solidFill>
                        </a:rPr>
                        <a:t>90.4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42B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42B"/>
                          </a:solidFill>
                        </a:rPr>
                        <a:t>Final: + Whisper, fully on-device</a:t>
                      </a:r>
                    </a:p>
                  </a:txBody>
                  <a:tcPr marL="73152" marR="73152" marT="27432" marB="27432" anchor="ctr">
                    <a:solidFill>
                      <a:srgbClr val="D9D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4142B"/>
                          </a:solidFill>
                        </a:rPr>
                        <a:t>90.4</a:t>
                      </a:r>
                    </a:p>
                  </a:txBody>
                  <a:tcPr marL="73152" marR="73152" marT="27432" marB="27432" anchor="ctr">
                    <a:solidFill>
                      <a:srgbClr val="D9D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4142B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3F0"/>
                    </a:solidFill>
                  </a:tcPr>
                </a:tc>
              </a:tr>
            </a:tbl>
          </a:graphicData>
        </a:graphic>
      </p:graphicFrame>
      <p:sp>
        <p:nvSpPr>
          <p:cNvPr id="139" name="TextBox 138"/>
          <p:cNvSpPr txBox="1"/>
          <p:nvPr/>
        </p:nvSpPr>
        <p:spPr>
          <a:xfrm>
            <a:off x="457200" y="42519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3637E"/>
                </a:solidFill>
              </a:rPr>
              <a:t>*Mean over 11 of our own scenarios. The rule-based stub was written alongside them, so its 100 is an upper bound.</a:t>
            </a:r>
          </a:p>
        </p:txBody>
      </p:sp>
      <p:graphicFrame>
        <p:nvGraphicFramePr>
          <p:cNvPr id="140" name="Table 139"/>
          <p:cNvGraphicFramePr>
            <a:graphicFrameLocks noGrp="1"/>
          </p:cNvGraphicFramePr>
          <p:nvPr/>
        </p:nvGraphicFramePr>
        <p:xfrm>
          <a:off x="457200" y="4754880"/>
          <a:ext cx="6675120" cy="1316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31920"/>
                <a:gridCol w="274320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Final setup</a:t>
                      </a:r>
                    </a:p>
                  </a:txBody>
                  <a:tcPr marL="73152" marR="73152" marT="27432" marB="27432" anchor="ctr"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Measured</a:t>
                      </a:r>
                    </a:p>
                  </a:txBody>
                  <a:tcPr marL="73152" marR="73152" marT="27432" marB="27432" anchor="ctr">
                    <a:solidFill>
                      <a:srgbClr val="6D28D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2B"/>
                          </a:solidFill>
                        </a:rPr>
                        <a:t>Time to first spoken response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42B"/>
                          </a:solidFill>
                        </a:rPr>
                        <a:t>1.2 ms (median)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2B"/>
                          </a:solidFill>
                        </a:rPr>
                        <a:t>Cancellation after an interrupt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42B"/>
                          </a:solidFill>
                        </a:rPr>
                        <a:t>0.8 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2B"/>
                          </a:solidFill>
                        </a:rPr>
                        <a:t>Time to first decision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42B"/>
                          </a:solidFill>
                        </a:rPr>
                        <a:t>11.9 s (median)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</a:tr>
            </a:tbl>
          </a:graphicData>
        </a:graphic>
      </p:graphicFrame>
      <p:sp>
        <p:nvSpPr>
          <p:cNvPr id="141" name="TextBox 140"/>
          <p:cNvSpPr txBox="1"/>
          <p:nvPr/>
        </p:nvSpPr>
        <p:spPr>
          <a:xfrm>
            <a:off x="7452360" y="1463040"/>
            <a:ext cx="4297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</a:rPr>
              <a:t>Innovation highlights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142B"/>
                </a:solidFill>
              </a:rPr>
              <a:t>Latency does not depend on the model: a 12 s local planner still answers in about 1 ms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142B"/>
                </a:solidFill>
              </a:rPr>
              <a:t>Cancellation happens before the model even sees the new words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142B"/>
                </a:solidFill>
              </a:rPr>
              <a:t>Grounding guard took unrequested bookings from 4 to 0 at no score cost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142B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</a:rPr>
              <a:t>Limitations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142B"/>
                </a:solidFill>
              </a:rPr>
              <a:t>The 8B model sometimes labels a plain search as a booking; it now asks instead of booking, but the search goes unanswered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142B"/>
                </a:solidFill>
              </a:rPr>
              <a:t>12 s planning time is slow for chained tasks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142B"/>
                </a:solidFill>
              </a:rPr>
              <a:t>Our scenarios and scorer stand in for the unreleased evaluation kit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4142B"/>
                </a:solidFill>
              </a:rPr>
              <a:t>Plug in the official kit:</a:t>
            </a:r>
            <a:r>
              <a:rPr sz="1800" b="0">
                <a:solidFill>
                  <a:srgbClr val="14142B"/>
                </a:solidFill>
              </a:rPr>
              <a:t> map its events and actions in adapter.py, then run its public and hidden scenarios</a:t>
            </a:r>
            <a:endParaRPr/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4142B"/>
                </a:solidFill>
              </a:rPr>
              <a:t>Intent gating:</a:t>
            </a:r>
            <a:r>
              <a:rPr sz="1800" b="0">
                <a:solidFill>
                  <a:srgbClr val="14142B"/>
                </a:solidFill>
              </a:rPr>
              <a:t> allow a state-changing intent only when the user explicitly asked for that action, which fixes the search-as-booking failures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4142B"/>
                </a:solidFill>
              </a:rPr>
              <a:t>Faster planning:</a:t>
            </a:r>
            <a:r>
              <a:rPr sz="1800" b="0">
                <a:solidFill>
                  <a:srgbClr val="14142B"/>
                </a:solidFill>
              </a:rPr>
              <a:t> smaller or distilled planner, prompt caching, or vLLM with prefix caching on a GPU server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4142B"/>
                </a:solidFill>
              </a:rPr>
              <a:t>Streaming speech:</a:t>
            </a:r>
            <a:r>
              <a:rPr sz="1800" b="0">
                <a:solidFill>
                  <a:srgbClr val="14142B"/>
                </a:solidFill>
              </a:rPr>
              <a:t> incremental Whisper transcripts and voice-activity barge-in instead of whole clips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4142B"/>
                </a:solidFill>
              </a:rPr>
              <a:t>Slot normalization:</a:t>
            </a:r>
            <a:r>
              <a:rPr sz="1800" b="0">
                <a:solidFill>
                  <a:srgbClr val="14142B"/>
                </a:solidFill>
              </a:rPr>
              <a:t> canonical dates and times so values match whatever format the scorer expects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4142B"/>
                </a:solidFill>
              </a:rPr>
              <a:t>Larger models:</a:t>
            </a:r>
            <a:r>
              <a:rPr sz="1800" b="0">
                <a:solidFill>
                  <a:srgbClr val="14142B"/>
                </a:solidFill>
              </a:rPr>
              <a:t> Qwen-class 32B on a GPU server through the same OpenAI-compatible interface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4142B"/>
                </a:solidFill>
              </a:rPr>
              <a:t>Fully on-device:</a:t>
            </a:r>
            <a:r>
              <a:rPr sz="1800" b="0">
                <a:solidFill>
                  <a:srgbClr val="14142B"/>
                </a:solidFill>
              </a:rPr>
              <a:t> Qwen3-VL-8B plus Whisper on a 16 GB laptop; no API keys, no cloud, private by default</a:t>
            </a:r>
            <a:endParaRPr/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4142B"/>
                </a:solidFill>
              </a:rPr>
              <a:t>Safety you can verify:</a:t>
            </a:r>
            <a:r>
              <a:rPr sz="1800" b="0">
                <a:solidFill>
                  <a:srgbClr val="14142B"/>
                </a:solidFill>
              </a:rPr>
              <a:t> zero duplicate state-changing calls and zero unrequested bookings across every final run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4142B"/>
                </a:solidFill>
              </a:rPr>
              <a:t>Measured, not claimed:</a:t>
            </a:r>
            <a:r>
              <a:rPr sz="1800" b="0">
                <a:solidFill>
                  <a:srgbClr val="14142B"/>
                </a:solidFill>
              </a:rPr>
              <a:t> 1.2 ms to first speech and 0.8 ms cancellation with a real model in the loop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4142B"/>
                </a:solidFill>
              </a:rPr>
              <a:t>Honest evaluation:</a:t>
            </a:r>
            <a:r>
              <a:rPr sz="1800" b="0">
                <a:solidFill>
                  <a:srgbClr val="14142B"/>
                </a:solidFill>
              </a:rPr>
              <a:t> our 12 scenarios, the scorer and the raw trace of every experiment are in the repo, including the failures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4142B"/>
                </a:solidFill>
              </a:rPr>
              <a:t>Kit-ready:</a:t>
            </a:r>
            <a:r>
              <a:rPr sz="1800" b="0">
                <a:solidFill>
                  <a:srgbClr val="14142B"/>
                </a:solidFill>
              </a:rPr>
              <a:t> everything except one adapter file is independent of the unreleased evaluation format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4142B"/>
                </a:solidFill>
              </a:rPr>
              <a:t>Handles unseen tools:</a:t>
            </a:r>
            <a:r>
              <a:rPr sz="1800" b="0">
                <a:solidFill>
                  <a:srgbClr val="14142B"/>
                </a:solidFill>
              </a:rPr>
              <a:t> parses any manifest shape and classifies read-only versus state-changing tools automatically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4142B"/>
                </a:solidFill>
              </a:rPr>
              <a:t>Working prototype code, public GitHub repo: </a:t>
            </a:r>
            <a:r>
              <a:rPr sz="2000" b="1">
                <a:solidFill>
                  <a:srgbClr val="14142B"/>
                </a:solidFill>
              </a:rPr>
              <a:t>Y</a:t>
            </a:r>
            <a:r>
              <a:rPr sz="2000" b="0">
                <a:solidFill>
                  <a:srgbClr val="14142B"/>
                </a:solidFill>
              </a:rPr>
              <a:t> (https://github.com/hiyalodha/PRISM_GENAI_HACKATHON_Y2026)</a:t>
            </a:r>
            <a:endParaRPr sz="2800"/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4142B"/>
                </a:solidFill>
              </a:rPr>
              <a:t>README with reproducible setup instructions: </a:t>
            </a:r>
            <a:r>
              <a:rPr sz="2000" b="1">
                <a:solidFill>
                  <a:srgbClr val="14142B"/>
                </a:solidFill>
              </a:rPr>
              <a:t>Y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4142B"/>
                </a:solidFill>
              </a:rPr>
              <a:t>Demo video, max 5 minutes: </a:t>
            </a:r>
            <a:r>
              <a:rPr sz="2000" b="1">
                <a:solidFill>
                  <a:srgbClr val="14142B"/>
                </a:solidFill>
              </a:rPr>
              <a:t>Y</a:t>
            </a:r>
            <a:r>
              <a:rPr sz="2000" b="0">
                <a:solidFill>
                  <a:srgbClr val="14142B"/>
                </a:solidFill>
              </a:rPr>
              <a:t> (demo/Reflex_demo.mp4 in the repo, 3 min 30 s)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4142B"/>
                </a:solidFill>
              </a:rPr>
              <a:t>Presentation file (PPT or PDF): </a:t>
            </a:r>
            <a:r>
              <a:rPr sz="2000" b="1">
                <a:solidFill>
                  <a:srgbClr val="14142B"/>
                </a:solidFill>
              </a:rPr>
              <a:t>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